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e1d475440a4851" /><Relationship Type="http://schemas.openxmlformats.org/officeDocument/2006/relationships/extended-properties" Target="/docProps/app.xml" Id="R8ccf7290043f4314" /><Relationship Type="http://schemas.openxmlformats.org/officeDocument/2006/relationships/officeDocument" Target="/ppt/presentation.xml" Id="R18efa77180e645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89b4fdca71420b"/>
  </p:sldMasterIdLst>
  <p:notesMasterIdLst>
    <p:notesMasterId xmlns:r="http://schemas.openxmlformats.org/officeDocument/2006/relationships" r:id="Rfccfd9fef87e4ed5"/>
  </p:notesMasterIdLst>
  <p:sldIdLst>
    <p:sldId xmlns:r="http://schemas.openxmlformats.org/officeDocument/2006/relationships" id="256" r:id="R51d15e05e4e047b4"/>
    <p:sldId xmlns:r="http://schemas.openxmlformats.org/officeDocument/2006/relationships" id="257" r:id="Rb4a582c698494159"/>
    <p:sldId xmlns:r="http://schemas.openxmlformats.org/officeDocument/2006/relationships" id="258" r:id="R85b6dc4d743d432f"/>
    <p:sldId xmlns:r="http://schemas.openxmlformats.org/officeDocument/2006/relationships" id="259" r:id="R7b3669a6c459498e"/>
    <p:sldId xmlns:r="http://schemas.openxmlformats.org/officeDocument/2006/relationships" id="260" r:id="R64575f9e4e704adf"/>
    <p:sldId xmlns:r="http://schemas.openxmlformats.org/officeDocument/2006/relationships" id="261" r:id="R84266272960c42df"/>
    <p:sldId xmlns:r="http://schemas.openxmlformats.org/officeDocument/2006/relationships" id="262" r:id="R8c2b25dd3bcf482c"/>
    <p:sldId xmlns:r="http://schemas.openxmlformats.org/officeDocument/2006/relationships" id="263" r:id="R1ecbce397d4041d2"/>
    <p:sldId xmlns:r="http://schemas.openxmlformats.org/officeDocument/2006/relationships" id="264" r:id="R5bc3a4136daa44b9"/>
    <p:sldId xmlns:r="http://schemas.openxmlformats.org/officeDocument/2006/relationships" id="265" r:id="R5a06da05f9ba4fd3"/>
    <p:sldId xmlns:r="http://schemas.openxmlformats.org/officeDocument/2006/relationships" id="266" r:id="R57045f07ccc8430a"/>
    <p:sldId xmlns:r="http://schemas.openxmlformats.org/officeDocument/2006/relationships" id="267" r:id="Rf2e9d1c435f949e0"/>
    <p:sldId xmlns:r="http://schemas.openxmlformats.org/officeDocument/2006/relationships" id="268" r:id="Re0bf240f92994b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2b7e5a2ac94703" /><Relationship Type="http://schemas.openxmlformats.org/officeDocument/2006/relationships/slideMaster" Target="/ppt/slideMasters/slideMaster1.xml" Id="R9a89b4fdca71420b" /><Relationship Type="http://schemas.openxmlformats.org/officeDocument/2006/relationships/notesMaster" Target="/ppt/notesMasters/notesMaster1.xml" Id="Rfccfd9fef87e4ed5" /><Relationship Type="http://schemas.openxmlformats.org/officeDocument/2006/relationships/presProps" Target="/ppt/presProps.xml" Id="R0c8c9e7b96944de9" /><Relationship Type="http://schemas.openxmlformats.org/officeDocument/2006/relationships/tableStyles" Target="/ppt/tableStyles.xml" Id="R8fcc98d16bd04ad4" /><Relationship Type="http://schemas.openxmlformats.org/officeDocument/2006/relationships/slide" Target="/ppt/slides/slide1.xml" Id="R51d15e05e4e047b4" /><Relationship Type="http://schemas.openxmlformats.org/officeDocument/2006/relationships/slide" Target="/ppt/slides/slide2.xml" Id="Rb4a582c698494159" /><Relationship Type="http://schemas.openxmlformats.org/officeDocument/2006/relationships/slide" Target="/ppt/slides/slide3.xml" Id="R85b6dc4d743d432f" /><Relationship Type="http://schemas.openxmlformats.org/officeDocument/2006/relationships/slide" Target="/ppt/slides/slide4.xml" Id="R7b3669a6c459498e" /><Relationship Type="http://schemas.openxmlformats.org/officeDocument/2006/relationships/slide" Target="/ppt/slides/slide5.xml" Id="R64575f9e4e704adf" /><Relationship Type="http://schemas.openxmlformats.org/officeDocument/2006/relationships/slide" Target="/ppt/slides/slide6.xml" Id="R84266272960c42df" /><Relationship Type="http://schemas.openxmlformats.org/officeDocument/2006/relationships/slide" Target="/ppt/slides/slide7.xml" Id="R8c2b25dd3bcf482c" /><Relationship Type="http://schemas.openxmlformats.org/officeDocument/2006/relationships/slide" Target="/ppt/slides/slide8.xml" Id="R1ecbce397d4041d2" /><Relationship Type="http://schemas.openxmlformats.org/officeDocument/2006/relationships/slide" Target="/ppt/slides/slide9.xml" Id="R5bc3a4136daa44b9" /><Relationship Type="http://schemas.openxmlformats.org/officeDocument/2006/relationships/slide" Target="/ppt/slides/slide10.xml" Id="R5a06da05f9ba4fd3" /><Relationship Type="http://schemas.openxmlformats.org/officeDocument/2006/relationships/slide" Target="/ppt/slides/slide11.xml" Id="R57045f07ccc8430a" /><Relationship Type="http://schemas.openxmlformats.org/officeDocument/2006/relationships/slide" Target="/ppt/slides/slide12.xml" Id="Rf2e9d1c435f949e0" /><Relationship Type="http://schemas.openxmlformats.org/officeDocument/2006/relationships/slide" Target="/ppt/slides/slide13.xml" Id="Re0bf240f92994b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41e6bc73ec41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28819f95a94554" /><Relationship Type="http://schemas.openxmlformats.org/officeDocument/2006/relationships/notesMaster" Target="/ppt/notesMasters/notesMaster1.xml" Id="Rf3059848dfac4d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75628097da4ece" /><Relationship Type="http://schemas.openxmlformats.org/officeDocument/2006/relationships/notesMaster" Target="/ppt/notesMasters/notesMaster1.xml" Id="R67bf2c05c68642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4237a1f1374579" /><Relationship Type="http://schemas.openxmlformats.org/officeDocument/2006/relationships/notesMaster" Target="/ppt/notesMasters/notesMaster1.xml" Id="R42b772d4c4104d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939586ae02485f" /><Relationship Type="http://schemas.openxmlformats.org/officeDocument/2006/relationships/notesMaster" Target="/ppt/notesMasters/notesMaster1.xml" Id="R5b3a0bf7d3f043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5ea6633051401f" /><Relationship Type="http://schemas.openxmlformats.org/officeDocument/2006/relationships/notesMaster" Target="/ppt/notesMasters/notesMaster1.xml" Id="R213cba17d31d40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8d9449a1de4c6e" /><Relationship Type="http://schemas.openxmlformats.org/officeDocument/2006/relationships/notesMaster" Target="/ppt/notesMasters/notesMaster1.xml" Id="R24a81a222fc84c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997388e7624583" /><Relationship Type="http://schemas.openxmlformats.org/officeDocument/2006/relationships/notesMaster" Target="/ppt/notesMasters/notesMaster1.xml" Id="R2c36e86fcadd46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c3910072884327" /><Relationship Type="http://schemas.openxmlformats.org/officeDocument/2006/relationships/notesMaster" Target="/ppt/notesMasters/notesMaster1.xml" Id="Rfbfee66bd5dd44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e693686f28499e" /><Relationship Type="http://schemas.openxmlformats.org/officeDocument/2006/relationships/notesMaster" Target="/ppt/notesMasters/notesMaster1.xml" Id="Rfae2718da0894e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5a614e1b154aa6" /><Relationship Type="http://schemas.openxmlformats.org/officeDocument/2006/relationships/notesMaster" Target="/ppt/notesMasters/notesMaster1.xml" Id="R8f921cf64bae4a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98d2efff10409d" /><Relationship Type="http://schemas.openxmlformats.org/officeDocument/2006/relationships/notesMaster" Target="/ppt/notesMasters/notesMaster1.xml" Id="R2cf8ef7c1b4647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adb31feb0a4bbf" /><Relationship Type="http://schemas.openxmlformats.org/officeDocument/2006/relationships/notesMaster" Target="/ppt/notesMasters/notesMaster1.xml" Id="R0e1a3ac4b13542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af48c33f5f4b70" /><Relationship Type="http://schemas.openxmlformats.org/officeDocument/2006/relationships/notesMaster" Target="/ppt/notesMasters/notesMaster1.xml" Id="R381f76c2b1c742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with the problem: an AI can reason and talk, but it needs connections to reach files, calendars, and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- Original OpenAI-generated illustration for this deck, 2026-07-27.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waiter analogy: MCP is the agreed way to carry a request between an AI application and a helper.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- Original OpenAI-generated illustration for this deck, 2026-07-27.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protocol, then keep the definition simple: it is an open standard for connecting AI applications to external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https://modelcontextprotocol.io/docs/getting-started/intro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a shared protocol, each connection can become a separate custom integration.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- Original OpenAI-generated illustration for this deck, 2026-07-27.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 standardizes the connection so compatible applications can reuse compatible servers.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- Original OpenAI-generated illustration for this deck, 2026-07-27.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resources as context, tools as actions, and prompts as reusable templates.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https://modelcontextprotocol.io/docs/learn/architecture</a:t>
            </a:r>
          </a:p>
          <a:p xmlns:a="http://schemas.openxmlformats.org/drawingml/2006/main">
            <a:r>
              <a:t>- https://modelcontextprotocol.io/docs/learn/server-concepts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Map the official host-client-server architecture to three teammates.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https://modelcontextprotocol.io/docs/learn/architecture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Narrate one request: ask about weather, route the request to the server, then return the structured result to the AI application.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https://modelcontextprotocol.io/docs/learn/architecture</a:t>
            </a:r>
          </a:p>
          <a:p xmlns:a="http://schemas.openxmlformats.org/drawingml/2006/main">
            <a:r>
              <a:t>- Original OpenAI-generated illustration for this deck, 2026-07-27.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initialization and discovery without showing protocol syntax. MCP clients can list tools before calling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https://modelcontextprotocol.io/docs/learn/architecture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 creates a connection surface; implementations still need clear permission UI and secure authorization. Remote authorization includes audience-bound token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https://modelcontextprotocol.io/specification/2025-06-18/basic/authorization</a:t>
            </a:r>
          </a:p>
          <a:p xmlns:a="http://schemas.openxmlformats.org/drawingml/2006/main">
            <a:r>
              <a:t>- Original OpenAI-generated illustration for this deck, 2026-07-27.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scope: MCP focuses on context exchange and does not dictate how AI applications use their language 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https://modelcontextprotocol.io/docs/learn/architecture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three-part memory aid: shared language, many helpers, user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- https://modelcontextprotocol.io/specification/2025-06-18/basic/authorization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appendix only when someone wants the technical sources behind the 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- https://modelcontextprotocol.io/docs/learn/architecture</a:t>
            </a:r>
          </a:p>
          <a:p xmlns:a="http://schemas.openxmlformats.org/drawingml/2006/main">
            <a:r>
              <a:t>- https://modelcontextprotocol.io/docs/learn/server-concepts</a:t>
            </a:r>
          </a:p>
          <a:p xmlns:a="http://schemas.openxmlformats.org/drawingml/2006/main">
            <a:r>
              <a:t>- https://modelcontextprotocol.io/specification/2025-06-18/basic/authorization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1a74e70af49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73836e60cd41be" /><Relationship Type="http://schemas.openxmlformats.org/officeDocument/2006/relationships/slideLayout" Target="/ppt/slideLayouts/slideLayout1.xml" Id="R3e4b33b0e9054d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4b33b0e9054d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7e234af7046cd" /><Relationship Type="http://schemas.openxmlformats.org/officeDocument/2006/relationships/image" Target="/ppt/media/image.png" Id="Rbbff362b8a6d449c" /><Relationship Type="http://schemas.openxmlformats.org/officeDocument/2006/relationships/notesSlide" Target="/ppt/notesSlides/notesSlide1.xml" Id="R82b5bdbc21464e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7de5377e44ba3" /><Relationship Type="http://schemas.openxmlformats.org/officeDocument/2006/relationships/image" Target="/ppt/media/image2.png" Id="Rbb77c04398c94b09" /><Relationship Type="http://schemas.openxmlformats.org/officeDocument/2006/relationships/notesSlide" Target="/ppt/notesSlides/notesSlide2.xml" Id="R99636b369cbd44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5c2eb72a74c0c" /><Relationship Type="http://schemas.openxmlformats.org/officeDocument/2006/relationships/notesSlide" Target="/ppt/notesSlides/notesSlide3.xml" Id="R641791d4c5cf4f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819304a57427b" /><Relationship Type="http://schemas.openxmlformats.org/officeDocument/2006/relationships/image" Target="/ppt/media/image3.png" Id="R17c3f935abdd42fc" /><Relationship Type="http://schemas.openxmlformats.org/officeDocument/2006/relationships/notesSlide" Target="/ppt/notesSlides/notesSlide4.xml" Id="Re6a3939e526242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0e43b51bc49a9" /><Relationship Type="http://schemas.openxmlformats.org/officeDocument/2006/relationships/image" Target="/ppt/media/image4.png" Id="R0ca6fed3dc0a46df" /><Relationship Type="http://schemas.openxmlformats.org/officeDocument/2006/relationships/notesSlide" Target="/ppt/notesSlides/notesSlide5.xml" Id="R60788e3acfc848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e25c38c4146c6" /><Relationship Type="http://schemas.openxmlformats.org/officeDocument/2006/relationships/notesSlide" Target="/ppt/notesSlides/notesSlide6.xml" Id="R3964eb2f9e6c40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e635b9e31410a" /><Relationship Type="http://schemas.openxmlformats.org/officeDocument/2006/relationships/notesSlide" Target="/ppt/notesSlides/notesSlide7.xml" Id="Rf7b1760956e243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47be836fd440f" /><Relationship Type="http://schemas.openxmlformats.org/officeDocument/2006/relationships/image" Target="/ppt/media/image5.png" Id="R4151b64536d443fc" /><Relationship Type="http://schemas.openxmlformats.org/officeDocument/2006/relationships/notesSlide" Target="/ppt/notesSlides/notesSlide8.xml" Id="R11d05f1e60ae45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227e533894608" /><Relationship Type="http://schemas.openxmlformats.org/officeDocument/2006/relationships/notesSlide" Target="/ppt/notesSlides/notesSlide9.xml" Id="R33c973a427d145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c0cbb89cf4e4b" /><Relationship Type="http://schemas.openxmlformats.org/officeDocument/2006/relationships/image" Target="/ppt/media/image6.png" Id="R61906c3a0af64ddc" /><Relationship Type="http://schemas.openxmlformats.org/officeDocument/2006/relationships/notesSlide" Target="/ppt/notesSlides/notesSlide10.xml" Id="R9b28721435bb41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2cd0be70a4efd" /><Relationship Type="http://schemas.openxmlformats.org/officeDocument/2006/relationships/notesSlide" Target="/ppt/notesSlides/notesSlide11.xml" Id="R01fd5b0a221941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dfc14e1fb4730" /><Relationship Type="http://schemas.openxmlformats.org/officeDocument/2006/relationships/notesSlide" Target="/ppt/notesSlides/notesSlide12.xml" Id="R39267fdc1a1e4c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06cc907194c38" /><Relationship Type="http://schemas.openxmlformats.org/officeDocument/2006/relationships/notesSlide" Target="/ppt/notesSlides/notesSlide13.xml" Id="Rf5d65f09e9a443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4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B4C99-20AD-4697-9DC4-A85A4B02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48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3D6"/>
                </a:solidFill>
              </a:defRPr>
            </a:pPr>
            <a:r>
              <a:rPr sz="1050" b="1">
                <a:solidFill>
                  <a:srgbClr val="FFF3D6"/>
                </a:solidFill>
              </a:rPr>
              <a:t>01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ff362b8a6d449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5C5C0-4485-4FF9-AEA9-DB20CBC8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40"/>
          </a:solidFill>
          <a:ln xmlns:a="http://schemas.openxmlformats.org/drawingml/2006/main" w="0">
            <a:solidFill>
              <a:srgbClr val="0B24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6B57E-B375-4429-85A3-9A107FF6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4286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3D6"/>
                </a:solidFill>
              </a:defRPr>
            </a:pPr>
            <a:r>
              <a:rPr sz="3900" b="1">
                <a:solidFill>
                  <a:srgbClr val="FFF3D6"/>
                </a:solidFill>
              </a:rPr>
              <a:t>Your AI helper</a:t>
            </a:r>
          </a:p>
          <a:p xmlns:a="http://schemas.openxmlformats.org/drawingml/2006/main">
            <a:pPr algn="l">
              <a:defRPr sz="3900" b="1">
                <a:solidFill>
                  <a:srgbClr val="FFF3D6"/>
                </a:solidFill>
              </a:defRPr>
            </a:pPr>
            <a:r>
              <a:rPr sz="3900" b="1">
                <a:solidFill>
                  <a:srgbClr val="FFF3D6"/>
                </a:solidFill>
              </a:rPr>
              <a:t>has a big problem:</a:t>
            </a:r>
          </a:p>
          <a:p xmlns:a="http://schemas.openxmlformats.org/drawingml/2006/main">
            <a:pPr algn="l">
              <a:defRPr sz="3900" b="1">
                <a:solidFill>
                  <a:srgbClr val="FFF3D6"/>
                </a:solidFill>
              </a:defRPr>
            </a:pPr>
            <a:r>
              <a:rPr sz="3900" b="1">
                <a:solidFill>
                  <a:srgbClr val="FFF3D6"/>
                </a:solidFill>
              </a:rPr>
              <a:t>it has no hands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B4D7E-8997-4C6D-B4C3-8E1F5161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MCP gives it a safe way to ask other helpers.</a:t>
            </a:r>
          </a:p>
        </p:txBody>
      </p:sp>
    </p:spTree>
    <p:extLst>
      <p:ext uri="{BB962C8B-B14F-4D97-AF65-F5344CB8AC3E}">
        <p14:creationId xmlns:p14="http://schemas.microsoft.com/office/powerpoint/2010/main" val="19679766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11488-52F9-4886-83AF-D26D1347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48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2440"/>
                </a:solidFill>
              </a:defRPr>
            </a:pPr>
            <a:r>
              <a:rPr sz="1050" b="1">
                <a:solidFill>
                  <a:srgbClr val="0B2440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1A386-D6AA-4F1A-B74D-649DB2E3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2440"/>
                </a:solidFill>
              </a:defRPr>
            </a:pPr>
            <a:r>
              <a:rPr sz="3300" b="1">
                <a:solidFill>
                  <a:srgbClr val="0B2440"/>
                </a:solidFill>
              </a:rPr>
              <a:t>A waiter carries your request to the right helper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7c04398c94b09"/>
          <a:srcRect xmlns:a="http://schemas.openxmlformats.org/drawingml/2006/main" l="1395" t="0" r="13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66875"/>
            <a:ext cx="7239000" cy="41910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188AD-B967-4F67-9050-E69A097D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6F5E"/>
                </a:solidFill>
              </a:defRPr>
            </a:pPr>
            <a:r>
              <a:rPr sz="2250" b="1">
                <a:solidFill>
                  <a:srgbClr val="F46F5E"/>
                </a:solidFill>
              </a:rPr>
              <a:t>You ask.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6BEE5-729A-44A8-AD0A-04555C73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440"/>
                </a:solidFill>
              </a:defRPr>
            </a:pPr>
            <a:r>
              <a:rPr sz="2025" b="1">
                <a:solidFill>
                  <a:srgbClr val="0B2440"/>
                </a:solidFill>
              </a:rPr>
              <a:t>The waiter knows</a:t>
            </a:r>
          </a:p>
          <a:p xmlns:a="http://schemas.openxmlformats.org/drawingml/2006/main">
            <a:pPr algn="l">
              <a:defRPr sz="2025" b="1">
                <a:solidFill>
                  <a:srgbClr val="0B2440"/>
                </a:solidFill>
              </a:defRPr>
            </a:pPr>
            <a:r>
              <a:rPr sz="2025" b="1">
                <a:solidFill>
                  <a:srgbClr val="0B2440"/>
                </a:solidFill>
              </a:rPr>
              <a:t>where to take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74ED5-D226-4512-95BA-1B0D7639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4C7B8"/>
                </a:solidFill>
              </a:defRPr>
            </a:pPr>
            <a:r>
              <a:rPr sz="2025" b="1">
                <a:solidFill>
                  <a:srgbClr val="74C7B8"/>
                </a:solidFill>
              </a:rPr>
              <a:t>The right helper</a:t>
            </a:r>
          </a:p>
          <a:p xmlns:a="http://schemas.openxmlformats.org/drawingml/2006/main">
            <a:pPr algn="l">
              <a:defRPr sz="2025" b="1">
                <a:solidFill>
                  <a:srgbClr val="74C7B8"/>
                </a:solidFill>
              </a:defRPr>
            </a:pPr>
            <a:r>
              <a:rPr sz="2025" b="1">
                <a:solidFill>
                  <a:srgbClr val="74C7B8"/>
                </a:solidFill>
              </a:rPr>
              <a:t>brings the result back.</a:t>
            </a:r>
          </a:p>
        </p:txBody>
      </p:sp>
    </p:spTree>
    <p:extLst>
      <p:ext uri="{BB962C8B-B14F-4D97-AF65-F5344CB8AC3E}">
        <p14:creationId xmlns:p14="http://schemas.microsoft.com/office/powerpoint/2010/main" val="8768634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3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8AC0D-4BCB-4C11-8DFD-2E2F2998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48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2440"/>
                </a:solidFill>
              </a:defRPr>
            </a:pPr>
            <a:r>
              <a:rPr sz="1050" b="1">
                <a:solidFill>
                  <a:srgbClr val="0B2440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2D983-C9EF-40EC-969D-A08697F5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2440"/>
                </a:solidFill>
              </a:defRPr>
            </a:pPr>
            <a:r>
              <a:rPr sz="3300" b="1">
                <a:solidFill>
                  <a:srgbClr val="0B2440"/>
                </a:solidFill>
              </a:rPr>
              <a:t>MCP is a common way for AI and helpers to 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2B3A0-EBED-4080-A4A8-024C2B34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180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100" b="1">
                <a:solidFill>
                  <a:srgbClr val="F46F5E"/>
                </a:solidFill>
              </a:defRPr>
            </a:pPr>
            <a:r>
              <a:rPr sz="8100" b="1">
                <a:solidFill>
                  <a:srgbClr val="F46F5E"/>
                </a:solidFill>
              </a:rPr>
              <a:t>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3BCF7-5BE0-4BB7-B121-FD65075C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042"/>
                </a:solidFill>
              </a:defRPr>
            </a:pPr>
            <a:r>
              <a:rPr sz="1875" b="1">
                <a:solidFill>
                  <a:srgbClr val="183042"/>
                </a:solidFill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56149-535F-4CC2-9C91-6566CDF0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95500"/>
            <a:ext cx="180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100" b="1">
                <a:solidFill>
                  <a:srgbClr val="74C7B8"/>
                </a:solidFill>
              </a:defRPr>
            </a:pPr>
            <a:r>
              <a:rPr sz="8100" b="1">
                <a:solidFill>
                  <a:srgbClr val="74C7B8"/>
                </a:solidFill>
              </a:rPr>
              <a:t>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32F40-8D04-42B5-9440-0BEC49FD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042"/>
                </a:solidFill>
              </a:defRPr>
            </a:pPr>
            <a:r>
              <a:rPr sz="1875" b="1">
                <a:solidFill>
                  <a:srgbClr val="183042"/>
                </a:solidFill>
              </a:rPr>
              <a:t>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A942D-4B01-4976-B467-974FCD68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95500"/>
            <a:ext cx="180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100" b="1">
                <a:solidFill>
                  <a:srgbClr val="F6C85F"/>
                </a:solidFill>
              </a:defRPr>
            </a:pPr>
            <a:r>
              <a:rPr sz="8100" b="1">
                <a:solidFill>
                  <a:srgbClr val="F6C85F"/>
                </a:solidFill>
              </a:rPr>
              <a:t>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44CC3-563B-4268-B7CB-9F4D911D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147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042"/>
                </a:solidFill>
              </a:defRPr>
            </a:pPr>
            <a:r>
              <a:rPr sz="1875" b="1">
                <a:solidFill>
                  <a:srgbClr val="183042"/>
                </a:solidFill>
              </a:rPr>
              <a:t>Protocol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0B6F2-BC57-42CC-9BDF-6BCCDCE5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2440"/>
                </a:solidFill>
              </a:defRPr>
            </a:pPr>
            <a:r>
              <a:rPr sz="2100" b="1">
                <a:solidFill>
                  <a:srgbClr val="0B2440"/>
                </a:solidFill>
              </a:rPr>
              <a:t>A shared set of rules - like agreeing how to pass notes in class.</a:t>
            </a:r>
          </a:p>
        </p:txBody>
      </p:sp>
    </p:spTree>
    <p:extLst>
      <p:ext uri="{BB962C8B-B14F-4D97-AF65-F5344CB8AC3E}">
        <p14:creationId xmlns:p14="http://schemas.microsoft.com/office/powerpoint/2010/main" val="4926437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24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6A142-C7D3-47C7-BFF9-95669087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48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3D6"/>
                </a:solidFill>
              </a:defRPr>
            </a:pPr>
            <a:r>
              <a:rPr sz="1050" b="1">
                <a:solidFill>
                  <a:srgbClr val="FFF3D6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D631F-934C-4D1D-B4DF-FBBE1AA5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3D6"/>
                </a:solidFill>
              </a:defRPr>
            </a:pPr>
            <a:r>
              <a:rPr sz="3300" b="1">
                <a:solidFill>
                  <a:srgbClr val="FFF3D6"/>
                </a:solidFill>
              </a:rPr>
              <a:t>Without a common plug, every helper needs a new cable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3f935abdd42fc"/>
          <a:srcRect xmlns:a="http://schemas.openxmlformats.org/drawingml/2006/main" l="0" t="13243" r="0" b="132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19250"/>
            <a:ext cx="108204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</p:spTree>
    <p:extLst>
      <p:ext uri="{BB962C8B-B14F-4D97-AF65-F5344CB8AC3E}">
        <p14:creationId xmlns:p14="http://schemas.microsoft.com/office/powerpoint/2010/main" val="7491466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3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4A139-CF45-4D4E-82AD-B22137B5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48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2440"/>
                </a:solidFill>
              </a:defRPr>
            </a:pPr>
            <a:r>
              <a:rPr sz="1050" b="1">
                <a:solidFill>
                  <a:srgbClr val="0B2440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39073-7359-4436-AAD4-10AC3178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2440"/>
                </a:solidFill>
              </a:defRPr>
            </a:pPr>
            <a:r>
              <a:rPr sz="3300" b="1">
                <a:solidFill>
                  <a:srgbClr val="0B2440"/>
                </a:solidFill>
              </a:rPr>
              <a:t>One common plug makes the mess disappear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6fed3dc0a46df"/>
          <a:srcRect xmlns:a="http://schemas.openxmlformats.org/drawingml/2006/main" l="0" t="13243" r="0" b="132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19250"/>
            <a:ext cx="108204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</p:spTree>
    <p:extLst>
      <p:ext uri="{BB962C8B-B14F-4D97-AF65-F5344CB8AC3E}">
        <p14:creationId xmlns:p14="http://schemas.microsoft.com/office/powerpoint/2010/main" val="14812146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10230-9AE3-48FF-BB4A-87D17119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48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2440"/>
                </a:solidFill>
              </a:defRPr>
            </a:pPr>
            <a:r>
              <a:rPr sz="1050" b="1">
                <a:solidFill>
                  <a:srgbClr val="0B2440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C6A20-1A5E-4FC3-99E5-4B4A1C7B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2440"/>
                </a:solidFill>
              </a:defRPr>
            </a:pPr>
            <a:r>
              <a:rPr sz="3300" b="1">
                <a:solidFill>
                  <a:srgbClr val="0B2440"/>
                </a:solidFill>
              </a:rPr>
              <a:t>MCP offers three kinds of help: look, do, and guide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BB2BC-7CAE-470A-81C6-698AF13D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74C7B8"/>
                </a:solidFill>
              </a:defRPr>
            </a:pPr>
            <a:r>
              <a:rPr sz="3600" b="1">
                <a:solidFill>
                  <a:srgbClr val="74C7B8"/>
                </a:solidFill>
              </a:rPr>
              <a:t>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9784C-FCFC-47E8-9138-7964AEAB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2440"/>
                </a:solidFill>
              </a:defRPr>
            </a:pPr>
            <a:r>
              <a:rPr sz="2100" b="1">
                <a:solidFill>
                  <a:srgbClr val="0B2440"/>
                </a:solidFill>
              </a:rPr>
              <a:t>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36E4F-B256-4992-B5D0-860F539F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83042"/>
                </a:solidFill>
              </a:defRPr>
            </a:pPr>
            <a:r>
              <a:rPr sz="1650" b="0">
                <a:solidFill>
                  <a:srgbClr val="183042"/>
                </a:solidFill>
              </a:rPr>
              <a:t>Read a file, record,</a:t>
            </a:r>
          </a:p>
          <a:p xmlns:a="http://schemas.openxmlformats.org/drawingml/2006/main">
            <a:pPr algn="ctr">
              <a:defRPr sz="1650" b="0">
                <a:solidFill>
                  <a:srgbClr val="183042"/>
                </a:solidFill>
              </a:defRPr>
            </a:pPr>
            <a:r>
              <a:rPr sz="1650" b="0">
                <a:solidFill>
                  <a:srgbClr val="183042"/>
                </a:solidFill>
              </a:rPr>
              <a:t>or calendar.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CB8D0-EC72-46C9-B711-C6D43D69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46F5E"/>
                </a:solidFill>
              </a:defRPr>
            </a:pPr>
            <a:r>
              <a:rPr sz="3600" b="1">
                <a:solidFill>
                  <a:srgbClr val="F46F5E"/>
                </a:solidFill>
              </a:rPr>
              <a:t>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49D2A-67DE-49F7-96D4-79957FB2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2440"/>
                </a:solidFill>
              </a:defRPr>
            </a:pPr>
            <a:r>
              <a:rPr sz="2100" b="1">
                <a:solidFill>
                  <a:srgbClr val="0B2440"/>
                </a:solidFill>
              </a:rPr>
              <a:t>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C672E-AA6D-453B-A3E6-F439AF29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05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83042"/>
                </a:solidFill>
              </a:defRPr>
            </a:pPr>
            <a:r>
              <a:rPr sz="1650" b="0">
                <a:solidFill>
                  <a:srgbClr val="183042"/>
                </a:solidFill>
              </a:rPr>
              <a:t>Search, calculate,</a:t>
            </a:r>
          </a:p>
          <a:p xmlns:a="http://schemas.openxmlformats.org/drawingml/2006/main">
            <a:pPr algn="ctr">
              <a:defRPr sz="1650" b="0">
                <a:solidFill>
                  <a:srgbClr val="183042"/>
                </a:solidFill>
              </a:defRPr>
            </a:pPr>
            <a:r>
              <a:rPr sz="1650" b="0">
                <a:solidFill>
                  <a:srgbClr val="183042"/>
                </a:solidFill>
              </a:rPr>
              <a:t>send, or 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AB2A7-F529-4163-AB29-5AB417D5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6C85F"/>
                </a:solidFill>
              </a:defRPr>
            </a:pPr>
            <a:r>
              <a:rPr sz="3600" b="1">
                <a:solidFill>
                  <a:srgbClr val="F6C85F"/>
                </a:solidFill>
              </a:rPr>
              <a:t>GUIDE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57B21-D890-4D13-B9D1-B16AB08A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2440"/>
                </a:solidFill>
              </a:defRPr>
            </a:pPr>
            <a:r>
              <a:rPr sz="2100" b="1">
                <a:solidFill>
                  <a:srgbClr val="0B2440"/>
                </a:solidFill>
              </a:rPr>
              <a:t>Prompts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AB4DF-119B-4063-A943-99BDB87C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052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83042"/>
                </a:solidFill>
              </a:defRPr>
            </a:pPr>
            <a:r>
              <a:rPr sz="1650" b="0">
                <a:solidFill>
                  <a:srgbClr val="183042"/>
                </a:solidFill>
              </a:rPr>
              <a:t>Reuse a helpful</a:t>
            </a:r>
          </a:p>
          <a:p xmlns:a="http://schemas.openxmlformats.org/drawingml/2006/main">
            <a:pPr algn="ctr">
              <a:defRPr sz="1650" b="0">
                <a:solidFill>
                  <a:srgbClr val="183042"/>
                </a:solidFill>
              </a:defRPr>
            </a:pPr>
            <a:r>
              <a:rPr sz="1650" b="0">
                <a:solidFill>
                  <a:srgbClr val="183042"/>
                </a:solidFill>
              </a:rPr>
              <a:t>way to ask.</a:t>
            </a:r>
          </a:p>
        </p:txBody>
      </p:sp>
    </p:spTree>
    <p:extLst>
      <p:ext uri="{BB962C8B-B14F-4D97-AF65-F5344CB8AC3E}">
        <p14:creationId xmlns:p14="http://schemas.microsoft.com/office/powerpoint/2010/main" val="5247218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3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3FDD8-1AF1-4A01-8C5E-06FDE3AF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48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2440"/>
                </a:solidFill>
              </a:defRPr>
            </a:pPr>
            <a:r>
              <a:rPr sz="1050" b="1">
                <a:solidFill>
                  <a:srgbClr val="0B2440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ECD0B-4BDE-407C-8076-4F99755A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2440"/>
                </a:solidFill>
              </a:defRPr>
            </a:pPr>
            <a:r>
              <a:rPr sz="3300" b="1">
                <a:solidFill>
                  <a:srgbClr val="0B2440"/>
                </a:solidFill>
              </a:rPr>
              <a:t>Three teammates keep the conversation organized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C0C55-05CD-4B7D-97E3-6E113652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432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0">
            <a:solidFill>
              <a:srgbClr val="F6C8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2E0F5-7FDC-4B2A-82BB-C817B18C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247650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6F5E"/>
          </a:solidFill>
          <a:ln xmlns:a="http://schemas.openxmlformats.org/drawingml/2006/main" w="28575">
            <a:solidFill>
              <a:srgbClr val="0B24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B7F4D-270D-4474-8B88-49E88975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146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2440"/>
                </a:solidFill>
              </a:defRPr>
            </a:pPr>
            <a:r>
              <a:rPr sz="2400" b="1">
                <a:solidFill>
                  <a:srgbClr val="0B2440"/>
                </a:solidFill>
              </a:rPr>
              <a:t>HOST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7DB59-B784-42BF-8727-C689B433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B2440"/>
                </a:solidFill>
              </a:defRPr>
            </a:pPr>
            <a:r>
              <a:rPr sz="1575" b="0">
                <a:solidFill>
                  <a:srgbClr val="0B2440"/>
                </a:solidFill>
              </a:rPr>
              <a:t>the AI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537A6-D6B7-42BB-9851-CE42B2D4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247650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85F"/>
          </a:solidFill>
          <a:ln xmlns:a="http://schemas.openxmlformats.org/drawingml/2006/main" w="28575">
            <a:solidFill>
              <a:srgbClr val="0B24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32F99-B758-43E5-AAFA-CD0E1BED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146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2440"/>
                </a:solidFill>
              </a:defRPr>
            </a:pPr>
            <a:r>
              <a:rPr sz="2400" b="1">
                <a:solidFill>
                  <a:srgbClr val="0B2440"/>
                </a:solidFill>
              </a:rPr>
              <a:t>CLIENT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25139-1AC1-4614-95AD-B858A87B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B2440"/>
                </a:solidFill>
              </a:defRPr>
            </a:pPr>
            <a:r>
              <a:rPr sz="1575" b="0">
                <a:solidFill>
                  <a:srgbClr val="0B2440"/>
                </a:solidFill>
              </a:rPr>
              <a:t>the connection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70D92-185B-478E-BAC8-859AEFF6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247650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C7B8"/>
          </a:solidFill>
          <a:ln xmlns:a="http://schemas.openxmlformats.org/drawingml/2006/main" w="28575">
            <a:solidFill>
              <a:srgbClr val="0B24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D2B2F-133A-431B-B771-4B204175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B2440"/>
                </a:solidFill>
              </a:defRPr>
            </a:pPr>
            <a:r>
              <a:rPr sz="2400" b="1">
                <a:solidFill>
                  <a:srgbClr val="0B2440"/>
                </a:solidFill>
              </a:rPr>
              <a:t>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2C77C-B3DB-4BC5-B235-5AD157C6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B2440"/>
                </a:solidFill>
              </a:defRPr>
            </a:pPr>
            <a:r>
              <a:rPr sz="1575" b="0">
                <a:solidFill>
                  <a:srgbClr val="0B2440"/>
                </a:solidFill>
              </a:rPr>
              <a:t>the helper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5D432-70EF-49FF-9330-BEE05026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2440"/>
                </a:solidFill>
              </a:defRPr>
            </a:pPr>
            <a:r>
              <a:rPr sz="1950" b="1">
                <a:solidFill>
                  <a:srgbClr val="0B2440"/>
                </a:solidFill>
              </a:rPr>
              <a:t>The host creates one client connection for each server it uses.</a:t>
            </a:r>
          </a:p>
        </p:txBody>
      </p:sp>
    </p:spTree>
    <p:extLst>
      <p:ext uri="{BB962C8B-B14F-4D97-AF65-F5344CB8AC3E}">
        <p14:creationId xmlns:p14="http://schemas.microsoft.com/office/powerpoint/2010/main" val="19447046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24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86C50-A66E-4384-9ECC-F8F663BB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48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3D6"/>
                </a:solidFill>
              </a:defRPr>
            </a:pPr>
            <a:r>
              <a:rPr sz="1050" b="1">
                <a:solidFill>
                  <a:srgbClr val="FFF3D6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C142C-CEE2-4A70-91A6-DC2E3A1D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3D6"/>
                </a:solidFill>
              </a:defRPr>
            </a:pPr>
            <a:r>
              <a:rPr sz="3300" b="1">
                <a:solidFill>
                  <a:srgbClr val="FFF3D6"/>
                </a:solidFill>
              </a:rPr>
              <a:t>A request goes out - and an answer comes back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1b64536d443fc"/>
          <a:srcRect xmlns:a="http://schemas.openxmlformats.org/drawingml/2006/main" l="0" t="13243" r="0" b="132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19250"/>
            <a:ext cx="108204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</p:spTree>
    <p:extLst>
      <p:ext uri="{BB962C8B-B14F-4D97-AF65-F5344CB8AC3E}">
        <p14:creationId xmlns:p14="http://schemas.microsoft.com/office/powerpoint/2010/main" val="11409227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B248B-3731-47BF-A446-C0825CB1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48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2440"/>
                </a:solidFill>
              </a:defRPr>
            </a:pPr>
            <a:r>
              <a:rPr sz="1050" b="1">
                <a:solidFill>
                  <a:srgbClr val="0B2440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49EBC-868E-4721-858C-01FDE933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2440"/>
                </a:solidFill>
              </a:defRPr>
            </a:pPr>
            <a:r>
              <a:rPr sz="3300" b="1">
                <a:solidFill>
                  <a:srgbClr val="0B2440"/>
                </a:solidFill>
              </a:rPr>
              <a:t>The helper shows its menu before the AI chooses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79D6D-AECF-419E-A451-7A6F0660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46F5E"/>
                </a:solidFill>
              </a:defRPr>
            </a:pPr>
            <a:r>
              <a:rPr sz="5400" b="1">
                <a:solidFill>
                  <a:srgbClr val="F46F5E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F3C14-DCFF-4711-BAFF-3DBF32F3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8600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440"/>
                </a:solidFill>
              </a:defRPr>
            </a:pPr>
            <a:r>
              <a:rPr sz="2400" b="1">
                <a:solidFill>
                  <a:srgbClr val="0B2440"/>
                </a:solidFill>
              </a:rPr>
              <a:t>HELLO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E4D84-7447-4184-B0E4-A997D5DF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575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They agree what each side understands.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957FC-2F52-48EC-93E2-B5234AC3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95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74C7B8"/>
                </a:solidFill>
              </a:defRPr>
            </a:pPr>
            <a:r>
              <a:rPr sz="5400" b="1">
                <a:solidFill>
                  <a:srgbClr val="74C7B8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A10F0-DBF7-4CAD-B683-1FE739E8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62375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2440"/>
                </a:solidFill>
              </a:defRPr>
            </a:pPr>
            <a:r>
              <a:rPr sz="2400" b="1">
                <a:solidFill>
                  <a:srgbClr val="0B2440"/>
                </a:solidFill>
              </a:rPr>
              <a:t>MENU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BD6E1-8A70-431C-8EAF-8207C546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33875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3042"/>
                </a:solidFill>
              </a:defRPr>
            </a:pPr>
            <a:r>
              <a:rPr sz="1725" b="0">
                <a:solidFill>
                  <a:srgbClr val="183042"/>
                </a:solidFill>
              </a:rPr>
              <a:t>The server lists its tools and resources.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A6A88-20F2-44E5-867D-DF354F83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46F5E"/>
                </a:solidFill>
              </a:defRPr>
            </a:pPr>
            <a:r>
              <a:rPr sz="1950" b="1">
                <a:solidFill>
                  <a:srgbClr val="F46F5E"/>
                </a:solidFill>
              </a:rPr>
              <a:t>Then the AI can choose a helper on purpose - not by guessing.</a:t>
            </a:r>
          </a:p>
        </p:txBody>
      </p:sp>
    </p:spTree>
    <p:extLst>
      <p:ext uri="{BB962C8B-B14F-4D97-AF65-F5344CB8AC3E}">
        <p14:creationId xmlns:p14="http://schemas.microsoft.com/office/powerpoint/2010/main" val="3771088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3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E11C5-0A2A-40C2-B72F-F5B02B55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48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2440"/>
                </a:solidFill>
              </a:defRPr>
            </a:pPr>
            <a:r>
              <a:rPr sz="1050" b="1">
                <a:solidFill>
                  <a:srgbClr val="0B2440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BA957-38D4-4D84-9593-3FBF45DF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2440"/>
                </a:solidFill>
              </a:defRPr>
            </a:pPr>
            <a:r>
              <a:rPr sz="3300" b="1">
                <a:solidFill>
                  <a:srgbClr val="0B2440"/>
                </a:solidFill>
              </a:rPr>
              <a:t>You stay in charge of the gate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06c3a0af64ddc"/>
          <a:srcRect xmlns:a="http://schemas.openxmlformats.org/drawingml/2006/main" l="4497" t="0" r="44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19250"/>
            <a:ext cx="72390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9FF30-72DB-4B70-AFE7-B3875676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6F5E"/>
                </a:solidFill>
              </a:defRPr>
            </a:pPr>
            <a:r>
              <a:rPr sz="2100" b="1">
                <a:solidFill>
                  <a:srgbClr val="F46F5E"/>
                </a:solidFill>
              </a:rPr>
              <a:t>See the request.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90377-A690-4B2D-BCC8-E9821E62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432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440"/>
                </a:solidFill>
              </a:defRPr>
            </a:pPr>
            <a:r>
              <a:rPr sz="2100" b="1">
                <a:solidFill>
                  <a:srgbClr val="0B2440"/>
                </a:solidFill>
              </a:rPr>
              <a:t>Choose what to share.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93A02-0FFF-4656-8D98-BFD57A49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3862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4C7B8"/>
                </a:solidFill>
              </a:defRPr>
            </a:pPr>
            <a:r>
              <a:rPr sz="2100" b="1">
                <a:solidFill>
                  <a:srgbClr val="74C7B8"/>
                </a:solidFill>
              </a:rPr>
              <a:t>Stop actions you do not want.</a:t>
            </a:r>
          </a:p>
        </p:txBody>
      </p:sp>
    </p:spTree>
    <p:extLst>
      <p:ext uri="{BB962C8B-B14F-4D97-AF65-F5344CB8AC3E}">
        <p14:creationId xmlns:p14="http://schemas.microsoft.com/office/powerpoint/2010/main" val="7703631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24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6D799-1034-4FA8-94BF-F9183BB5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48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3D6"/>
                </a:solidFill>
              </a:defRPr>
            </a:pPr>
            <a:r>
              <a:rPr sz="1050" b="1">
                <a:solidFill>
                  <a:srgbClr val="FFF3D6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4E3D3-C5B0-47C0-B599-4505C5C9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3D6"/>
                </a:solidFill>
              </a:defRPr>
            </a:pPr>
            <a:r>
              <a:rPr sz="3300" b="1">
                <a:solidFill>
                  <a:srgbClr val="FFF3D6"/>
                </a:solidFill>
              </a:rPr>
              <a:t>MCP is the bridge, not the brain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7DA99-6E43-4AD2-ABA9-1CEFF54E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3D6"/>
                </a:solidFill>
              </a:defRPr>
            </a:pPr>
            <a:r>
              <a:rPr sz="2850" b="1">
                <a:solidFill>
                  <a:srgbClr val="FFF3D6"/>
                </a:solidFill>
              </a:rPr>
              <a:t>AI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03476-9349-4DF3-98B7-C1F1E7F7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146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6C85F"/>
                </a:solidFill>
              </a:defRPr>
            </a:pPr>
            <a:r>
              <a:rPr sz="4050" b="1">
                <a:solidFill>
                  <a:srgbClr val="F6C85F"/>
                </a:solidFill>
              </a:rPr>
              <a:t>MCP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90A13-26B5-4500-9564-D7BC5AF0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146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3D6"/>
                </a:solidFill>
              </a:defRPr>
            </a:pPr>
            <a:r>
              <a:rPr sz="2850" b="1">
                <a:solidFill>
                  <a:srgbClr val="FFF3D6"/>
                </a:solidFill>
              </a:rPr>
              <a:t>HELPER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444FA-7F5A-4A2C-8405-8B57873F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95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6F5E"/>
          </a:solidFill>
          <a:ln xmlns:a="http://schemas.openxmlformats.org/drawingml/2006/main" w="0">
            <a:solidFill>
              <a:srgbClr val="F46F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A6396-27B4-4FAD-BAFE-1A24A4E3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95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7B8"/>
          </a:solidFill>
          <a:ln xmlns:a="http://schemas.openxmlformats.org/drawingml/2006/main" w="0">
            <a:solidFill>
              <a:srgbClr val="74C7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17195-7792-40F6-B32E-7EDF2459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It carries context and actions. It does not decide how the model thinks.</a:t>
            </a:r>
          </a:p>
        </p:txBody>
      </p:sp>
    </p:spTree>
    <p:extLst>
      <p:ext uri="{BB962C8B-B14F-4D97-AF65-F5344CB8AC3E}">
        <p14:creationId xmlns:p14="http://schemas.microsoft.com/office/powerpoint/2010/main" val="14444643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3D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CBE31-F185-4ECA-BDCB-E6A37039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48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2440"/>
                </a:solidFill>
              </a:defRPr>
            </a:pPr>
            <a:r>
              <a:rPr sz="1050" b="1">
                <a:solidFill>
                  <a:srgbClr val="0B2440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9F797-EDC7-47BC-A346-7C515A17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04875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B2440"/>
                </a:solidFill>
              </a:defRPr>
            </a:pPr>
            <a:r>
              <a:rPr sz="3600" b="1">
                <a:solidFill>
                  <a:srgbClr val="0B2440"/>
                </a:solidFill>
              </a:rPr>
              <a:t>If you remember one thing...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3BE170-D8ED-4622-B3CF-43A3643A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3362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46F5E"/>
                </a:solidFill>
              </a:defRPr>
            </a:pPr>
            <a:r>
              <a:rPr sz="4200" b="1">
                <a:solidFill>
                  <a:srgbClr val="F46F5E"/>
                </a:solidFill>
              </a:rPr>
              <a:t>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408D8-2F50-4669-A258-73CBE893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042"/>
                </a:solidFill>
              </a:defRPr>
            </a:pPr>
            <a:r>
              <a:rPr sz="1875" b="1">
                <a:solidFill>
                  <a:srgbClr val="183042"/>
                </a:solidFill>
              </a:rPr>
              <a:t>shared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6EC01-2FFD-4B97-A45B-DBA4C944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3362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74C7B8"/>
                </a:solidFill>
              </a:defRPr>
            </a:pPr>
            <a:r>
              <a:rPr sz="4200" b="1">
                <a:solidFill>
                  <a:srgbClr val="74C7B8"/>
                </a:solidFill>
              </a:rPr>
              <a:t>MANY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CFED9-51CF-4D3C-B082-C75C7598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956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042"/>
                </a:solidFill>
              </a:defRPr>
            </a:pPr>
            <a:r>
              <a:rPr sz="1875" b="1">
                <a:solidFill>
                  <a:srgbClr val="183042"/>
                </a:solidFill>
              </a:rPr>
              <a:t>useful helpers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BCDDC-0017-4A17-85C4-6C5F568B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6C85F"/>
                </a:solidFill>
              </a:defRPr>
            </a:pPr>
            <a:r>
              <a:rPr sz="4200" b="1">
                <a:solidFill>
                  <a:srgbClr val="F6C85F"/>
                </a:solidFill>
              </a:rPr>
              <a:t>YOU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E3D96-599D-43CC-90F0-69E0939D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9562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042"/>
                </a:solidFill>
              </a:defRPr>
            </a:pPr>
            <a:r>
              <a:rPr sz="1875" b="1">
                <a:solidFill>
                  <a:srgbClr val="183042"/>
                </a:solidFill>
              </a:rPr>
              <a:t>hold the 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FE317-319B-4510-848E-FED321B0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14875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0B2440"/>
                </a:solidFill>
              </a:defRPr>
            </a:pPr>
            <a:r>
              <a:rPr sz="4050" b="1">
                <a:solidFill>
                  <a:srgbClr val="0B2440"/>
                </a:solidFill>
              </a:rPr>
              <a:t>That is MCP.</a:t>
            </a:r>
          </a:p>
        </p:txBody>
      </p:sp>
    </p:spTree>
    <p:extLst>
      <p:ext uri="{BB962C8B-B14F-4D97-AF65-F5344CB8AC3E}">
        <p14:creationId xmlns:p14="http://schemas.microsoft.com/office/powerpoint/2010/main" val="15996242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2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9D8A5-4E42-43E5-83B9-CD06D82B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484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2440"/>
                </a:solidFill>
              </a:defRPr>
            </a:pPr>
            <a:r>
              <a:rPr sz="1050" b="1">
                <a:solidFill>
                  <a:srgbClr val="0B2440"/>
                </a:solidFill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36631-4473-4A5C-AFDA-541CC957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2440"/>
                </a:solidFill>
              </a:defRPr>
            </a:pPr>
            <a:r>
              <a:rPr sz="3300" b="1">
                <a:solidFill>
                  <a:srgbClr val="0B2440"/>
                </a:solidFill>
              </a:rPr>
              <a:t>For grown-ups who want to peek behind the curtain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5D550-D9A3-447B-9661-70C88542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6F5E"/>
                </a:solidFill>
              </a:defRPr>
            </a:pPr>
            <a:r>
              <a:rPr sz="1650" b="1">
                <a:solidFill>
                  <a:srgbClr val="F46F5E"/>
                </a:solidFill>
              </a:rPr>
              <a:t>START HERE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1EC30-ABD4-498B-B834-AA8B68ED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526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40"/>
                </a:solidFill>
              </a:defRPr>
            </a:pPr>
            <a:r>
              <a:rPr sz="1350" b="0">
                <a:solidFill>
                  <a:srgbClr val="0B2440"/>
                </a:solidFill>
              </a:rPr>
              <a:t>https://modelcontextprotocol.io/docs/getting-started/intro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69814-F657-4AD8-A421-ECB92D2C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C7B8"/>
                </a:solidFill>
              </a:defRPr>
            </a:pPr>
            <a:r>
              <a:rPr sz="1650" b="1">
                <a:solidFill>
                  <a:srgbClr val="74C7B8"/>
                </a:solidFill>
              </a:rPr>
              <a:t>HOW IT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17718-2704-425B-B048-4C477E23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40"/>
                </a:solidFill>
              </a:defRPr>
            </a:pPr>
            <a:r>
              <a:rPr sz="1350" b="0">
                <a:solidFill>
                  <a:srgbClr val="0B2440"/>
                </a:solidFill>
              </a:rPr>
              <a:t>https://modelcontextprotocol.io/docs/learn/architecture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33614-26AA-4D0A-8340-6677B079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C85F"/>
                </a:solidFill>
              </a:defRPr>
            </a:pPr>
            <a:r>
              <a:rPr sz="1650" b="1">
                <a:solidFill>
                  <a:srgbClr val="F6C85F"/>
                </a:solidFill>
              </a:rPr>
              <a:t>THE HELPERS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D438B-7E11-4CA4-A834-D608EAC6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623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40"/>
                </a:solidFill>
              </a:defRPr>
            </a:pPr>
            <a:r>
              <a:rPr sz="1350" b="0">
                <a:solidFill>
                  <a:srgbClr val="0B2440"/>
                </a:solidFill>
              </a:rPr>
              <a:t>https://modelcontextprotocol.io/docs/learn/server-concepts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85E0C-BFFC-46F0-AE6C-DDB65556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6F5E"/>
                </a:solidFill>
              </a:defRPr>
            </a:pPr>
            <a:r>
              <a:rPr sz="1650" b="1">
                <a:solidFill>
                  <a:srgbClr val="F46F5E"/>
                </a:solidFill>
              </a:rPr>
              <a:t>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8B28C-132E-4CC1-833F-F1783522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672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440"/>
                </a:solidFill>
              </a:defRPr>
            </a:pPr>
            <a:r>
              <a:rPr sz="1350" b="0">
                <a:solidFill>
                  <a:srgbClr val="0B2440"/>
                </a:solidFill>
              </a:rPr>
              <a:t>https://modelcontextprotocol.io/specification/2025-06-18/basic/authorization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010DE-5035-49FE-807C-EA0DCFBC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150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042"/>
                </a:solidFill>
              </a:defRPr>
            </a:pPr>
            <a:r>
              <a:rPr sz="1650" b="1">
                <a:solidFill>
                  <a:srgbClr val="183042"/>
                </a:solidFill>
              </a:rPr>
              <a:t>All four are official Model Context Protocol documentation pages.</a:t>
            </a:r>
          </a:p>
        </p:txBody>
      </p:sp>
    </p:spTree>
    <p:extLst>
      <p:ext uri="{BB962C8B-B14F-4D97-AF65-F5344CB8AC3E}">
        <p14:creationId xmlns:p14="http://schemas.microsoft.com/office/powerpoint/2010/main" val="19962001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2026-07-27T18:32:36.6330000Z</dcterms:created>
  <dcterms:modified xsi:type="dcterms:W3CDTF">2026-07-27T18:32:36.6330000Z</dcterms:modified>
</coreProperties>
</file>